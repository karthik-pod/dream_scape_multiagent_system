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1pPr>
    <a:lvl2pPr marL="0" marR="0" indent="374015"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2pPr>
    <a:lvl3pPr marL="0" marR="0" indent="74803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3pPr>
    <a:lvl4pPr marL="0" marR="0" indent="1122044"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4pPr>
    <a:lvl5pPr marL="0" marR="0" indent="149606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5pPr>
    <a:lvl6pPr marL="0" marR="0" indent="1870075"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6pPr>
    <a:lvl7pPr marL="0" marR="0" indent="2244725"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7pPr>
    <a:lvl8pPr marL="0" marR="0" indent="2618739"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8pPr>
    <a:lvl9pPr marL="0" marR="0" indent="2992754"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1" d="100"/>
          <a:sy n="21" d="100"/>
        </p:scale>
        <p:origin x="2634"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 name="Shape 31"/>
          <p:cNvSpPr>
            <a:spLocks noGrp="1" noRot="1" noChangeAspect="1"/>
          </p:cNvSpPr>
          <p:nvPr>
            <p:ph type="sldImg"/>
          </p:nvPr>
        </p:nvSpPr>
        <p:spPr>
          <a:xfrm>
            <a:off x="1143000" y="685800"/>
            <a:ext cx="4572000" cy="3429000"/>
          </a:xfrm>
          <a:prstGeom prst="rect">
            <a:avLst/>
          </a:prstGeom>
        </p:spPr>
        <p:txBody>
          <a:bodyPr/>
          <a:lstStyle/>
          <a:p>
            <a:endParaRPr/>
          </a:p>
        </p:txBody>
      </p:sp>
      <p:sp>
        <p:nvSpPr>
          <p:cNvPr id="32" name="Shape 3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7"/>
          <p:cNvSpPr/>
          <p:nvPr/>
        </p:nvSpPr>
        <p:spPr>
          <a:xfrm>
            <a:off x="-1" y="4572000"/>
            <a:ext cx="6583682" cy="28346400"/>
          </a:xfrm>
          <a:prstGeom prst="rect">
            <a:avLst/>
          </a:prstGeom>
          <a:solidFill>
            <a:srgbClr val="376092"/>
          </a:solidFill>
          <a:ln w="12700">
            <a:miter lim="400000"/>
          </a:ln>
        </p:spPr>
        <p:txBody>
          <a:bodyPr lIns="45719" rIns="45719"/>
          <a:lstStyle/>
          <a:p>
            <a:pPr algn="ctr" defTabSz="3291204">
              <a:defRPr sz="3600"/>
            </a:pPr>
            <a:endParaRPr/>
          </a:p>
        </p:txBody>
      </p:sp>
      <p:sp>
        <p:nvSpPr>
          <p:cNvPr id="3" name="Rectangle 8"/>
          <p:cNvSpPr/>
          <p:nvPr/>
        </p:nvSpPr>
        <p:spPr>
          <a:xfrm>
            <a:off x="6583680" y="1"/>
            <a:ext cx="26334722" cy="4572001"/>
          </a:xfrm>
          <a:prstGeom prst="rect">
            <a:avLst/>
          </a:prstGeom>
          <a:solidFill>
            <a:srgbClr val="376092"/>
          </a:solidFill>
          <a:ln w="12700">
            <a:miter lim="400000"/>
          </a:ln>
        </p:spPr>
        <p:txBody>
          <a:bodyPr lIns="45719" rIns="45719"/>
          <a:lstStyle/>
          <a:p>
            <a:endParaRPr/>
          </a:p>
        </p:txBody>
      </p:sp>
      <p:sp>
        <p:nvSpPr>
          <p:cNvPr id="4" name="Rectangle 9"/>
          <p:cNvSpPr/>
          <p:nvPr/>
        </p:nvSpPr>
        <p:spPr>
          <a:xfrm>
            <a:off x="6583680" y="4572000"/>
            <a:ext cx="26334722" cy="28346400"/>
          </a:xfrm>
          <a:prstGeom prst="rect">
            <a:avLst/>
          </a:prstGeom>
          <a:solidFill>
            <a:srgbClr val="EEECE1"/>
          </a:solidFill>
          <a:ln w="12700">
            <a:miter lim="400000"/>
          </a:ln>
        </p:spPr>
        <p:txBody>
          <a:bodyPr lIns="45719" rIns="45719"/>
          <a:lstStyle/>
          <a:p>
            <a:endParaRPr/>
          </a:p>
        </p:txBody>
      </p:sp>
      <p:sp>
        <p:nvSpPr>
          <p:cNvPr id="5" name="Line 11"/>
          <p:cNvSpPr/>
          <p:nvPr/>
        </p:nvSpPr>
        <p:spPr>
          <a:xfrm flipH="1">
            <a:off x="6583680" y="0"/>
            <a:ext cx="1" cy="32918401"/>
          </a:xfrm>
          <a:prstGeom prst="line">
            <a:avLst/>
          </a:prstGeom>
          <a:ln w="76200">
            <a:solidFill>
              <a:srgbClr val="000000"/>
            </a:solidFill>
          </a:ln>
        </p:spPr>
        <p:txBody>
          <a:bodyPr lIns="45719" rIns="45719"/>
          <a:lstStyle/>
          <a:p>
            <a:endParaRPr/>
          </a:p>
        </p:txBody>
      </p:sp>
      <p:sp>
        <p:nvSpPr>
          <p:cNvPr id="6" name="Line 12"/>
          <p:cNvSpPr/>
          <p:nvPr/>
        </p:nvSpPr>
        <p:spPr>
          <a:xfrm>
            <a:off x="0" y="4572000"/>
            <a:ext cx="32918401" cy="0"/>
          </a:xfrm>
          <a:prstGeom prst="line">
            <a:avLst/>
          </a:prstGeom>
          <a:ln w="76200">
            <a:solidFill>
              <a:srgbClr val="000000"/>
            </a:solidFill>
          </a:ln>
        </p:spPr>
        <p:txBody>
          <a:bodyPr lIns="45719" rIns="45719"/>
          <a:lstStyle/>
          <a:p>
            <a:endParaRPr/>
          </a:p>
        </p:txBody>
      </p:sp>
      <p:pic>
        <p:nvPicPr>
          <p:cNvPr id="7" name="Picture 1" descr="Picture 1"/>
          <p:cNvPicPr>
            <a:picLocks noChangeAspect="1"/>
          </p:cNvPicPr>
          <p:nvPr/>
        </p:nvPicPr>
        <p:blipFill>
          <a:blip r:embed="rId3"/>
          <a:stretch>
            <a:fillRect/>
          </a:stretch>
        </p:blipFill>
        <p:spPr>
          <a:xfrm>
            <a:off x="27432000" y="32613600"/>
            <a:ext cx="5297436" cy="185929"/>
          </a:xfrm>
          <a:prstGeom prst="rect">
            <a:avLst/>
          </a:prstGeom>
          <a:ln w="12700">
            <a:miter lim="400000"/>
          </a:ln>
        </p:spPr>
      </p:pic>
      <p:grpSp>
        <p:nvGrpSpPr>
          <p:cNvPr id="10" name="Instructions"/>
          <p:cNvGrpSpPr/>
          <p:nvPr/>
        </p:nvGrpSpPr>
        <p:grpSpPr>
          <a:xfrm>
            <a:off x="-10287000" y="0"/>
            <a:ext cx="9601200" cy="33769936"/>
            <a:chOff x="0" y="0"/>
            <a:chExt cx="9601200" cy="33769936"/>
          </a:xfrm>
        </p:grpSpPr>
        <p:sp>
          <p:nvSpPr>
            <p:cNvPr id="8" name="Rectangle"/>
            <p:cNvSpPr/>
            <p:nvPr/>
          </p:nvSpPr>
          <p:spPr>
            <a:xfrm>
              <a:off x="0" y="0"/>
              <a:ext cx="9601200" cy="32918400"/>
            </a:xfrm>
            <a:prstGeom prst="rect">
              <a:avLst/>
            </a:prstGeom>
            <a:solidFill>
              <a:srgbClr val="D9D9D9"/>
            </a:solidFill>
            <a:ln w="12700" cap="flat">
              <a:noFill/>
              <a:miter lim="400000"/>
            </a:ln>
            <a:effectLst/>
          </p:spPr>
          <p:txBody>
            <a:bodyPr wrap="square" lIns="45719" tIns="45719" rIns="45719" bIns="45719" numCol="1" anchor="t">
              <a:noAutofit/>
            </a:bodyPr>
            <a:lstStyle/>
            <a:p>
              <a:pPr algn="ctr" defTabSz="3686809">
                <a:spcBef>
                  <a:spcPts val="1800"/>
                </a:spcBef>
                <a:defRPr sz="7200">
                  <a:solidFill>
                    <a:srgbClr val="FFFFFF"/>
                  </a:solidFill>
                </a:defRPr>
              </a:pPr>
              <a:endParaRPr/>
            </a:p>
          </p:txBody>
        </p:sp>
        <p:sp>
          <p:nvSpPr>
            <p:cNvPr id="9" name="Poster Print Size:…"/>
            <p:cNvSpPr txBox="1"/>
            <p:nvPr/>
          </p:nvSpPr>
          <p:spPr>
            <a:xfrm>
              <a:off x="0" y="0"/>
              <a:ext cx="9601200" cy="337699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21" tIns="171421" rIns="171421" bIns="171421" numCol="1" anchor="t">
              <a:spAutoFit/>
            </a:bodyPr>
            <a:lstStyle/>
            <a:p>
              <a:pPr defTabSz="3686809">
                <a:spcBef>
                  <a:spcPts val="1800"/>
                </a:spcBef>
                <a:defRPr sz="7200">
                  <a:solidFill>
                    <a:srgbClr val="7F7F7F"/>
                  </a:solidFill>
                </a:defRPr>
              </a:pPr>
              <a:r>
                <a:t>Poster Print Size:</a:t>
              </a:r>
            </a:p>
            <a:p>
              <a:pPr defTabSz="3686809">
                <a:spcBef>
                  <a:spcPts val="1800"/>
                </a:spcBef>
                <a:defRPr sz="4900">
                  <a:solidFill>
                    <a:srgbClr val="7F7F7F"/>
                  </a:solidFill>
                </a:defRPr>
              </a:pPr>
              <a:r>
                <a:t>This poster template is 36” high by 36” wide. It can be used to print any poster with a 1:1 aspect ratio.</a:t>
              </a:r>
              <a:endParaRPr sz="7200">
                <a:solidFill>
                  <a:srgbClr val="FFFFFF"/>
                </a:solidFill>
              </a:endParaRPr>
            </a:p>
            <a:p>
              <a:pPr defTabSz="3686809">
                <a:spcBef>
                  <a:spcPts val="1800"/>
                </a:spcBef>
                <a:defRPr sz="7200">
                  <a:solidFill>
                    <a:srgbClr val="7F7F7F"/>
                  </a:solidFill>
                </a:defRPr>
              </a:pPr>
              <a:r>
                <a:t>Placeholders:</a:t>
              </a:r>
              <a:endParaRPr>
                <a:solidFill>
                  <a:srgbClr val="FFFFFF"/>
                </a:solidFill>
              </a:endParaRPr>
            </a:p>
            <a:p>
              <a:pPr defTabSz="3686809">
                <a:spcBef>
                  <a:spcPts val="1800"/>
                </a:spcBef>
                <a:defRPr sz="4900">
                  <a:solidFill>
                    <a:srgbClr val="7F7F7F"/>
                  </a:solidFill>
                </a:defRPr>
              </a:pPr>
              <a: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sz="7200">
                <a:solidFill>
                  <a:srgbClr val="FFFFFF"/>
                </a:solidFill>
              </a:endParaRPr>
            </a:p>
            <a:p>
              <a:pPr defTabSz="3686809">
                <a:spcBef>
                  <a:spcPts val="1800"/>
                </a:spcBef>
                <a:defRPr sz="7200">
                  <a:solidFill>
                    <a:srgbClr val="7F7F7F"/>
                  </a:solidFill>
                </a:defRPr>
              </a:pPr>
              <a:r>
                <a:t>Image Quality:</a:t>
              </a:r>
              <a:endParaRPr>
                <a:solidFill>
                  <a:srgbClr val="FFFFFF"/>
                </a:solidFill>
              </a:endParaRPr>
            </a:p>
            <a:p>
              <a:pPr defTabSz="3686809">
                <a:spcBef>
                  <a:spcPts val="1800"/>
                </a:spcBef>
                <a:defRPr sz="4900">
                  <a:solidFill>
                    <a:srgbClr val="7F7F7F"/>
                  </a:solidFill>
                </a:defRPr>
              </a:pPr>
              <a:r>
                <a:t>You can place digital photos or logo art in your poster file by selecting the </a:t>
              </a:r>
              <a:r>
                <a:rPr b="1"/>
                <a:t>Insert, Picture</a:t>
              </a:r>
              <a:r>
                <a:t> command, or by using standard copy &amp; paste. For best results, all graphic elements should be at least </a:t>
              </a:r>
              <a:r>
                <a:rPr b="1"/>
                <a:t>150-200 pixels per inch in their final printed size</a:t>
              </a:r>
              <a:r>
                <a:t>. For instance, a 1600 x 1200 pixel photo will usually look fine up to 8“-10” wide on your printed poster.</a:t>
              </a:r>
              <a:endParaRPr sz="7200">
                <a:solidFill>
                  <a:srgbClr val="FFFFFF"/>
                </a:solidFill>
              </a:endParaRPr>
            </a:p>
            <a:p>
              <a:pPr defTabSz="3686809">
                <a:spcBef>
                  <a:spcPts val="1800"/>
                </a:spcBef>
                <a:defRPr sz="4900">
                  <a:solidFill>
                    <a:srgbClr val="7F7F7F"/>
                  </a:solidFill>
                </a:defRPr>
              </a:pPr>
              <a: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7200">
                <a:solidFill>
                  <a:srgbClr val="FFFFFF"/>
                </a:solidFill>
              </a:endParaRPr>
            </a:p>
            <a:p>
              <a:pPr defTabSz="3686809">
                <a:spcBef>
                  <a:spcPts val="1800"/>
                </a:spcBef>
                <a:defRPr sz="4900">
                  <a:solidFill>
                    <a:srgbClr val="7F7F7F"/>
                  </a:solidFill>
                </a:defRPr>
              </a:pPr>
              <a:r>
                <a:t>Please note that graphics from websites (such as the logo on your hospital's or university's home page) will only be 72dpi and not suitable for printing.</a:t>
              </a:r>
              <a:endParaRPr sz="7200">
                <a:solidFill>
                  <a:srgbClr val="FFFFFF"/>
                </a:solidFill>
              </a:endParaRPr>
            </a:p>
            <a:p>
              <a:pPr algn="ctr" defTabSz="3686809">
                <a:spcBef>
                  <a:spcPts val="1800"/>
                </a:spcBef>
                <a:defRPr sz="3600">
                  <a:solidFill>
                    <a:srgbClr val="7F7F7F"/>
                  </a:solidFill>
                </a:defRPr>
              </a:pPr>
              <a:br>
                <a:rPr sz="7200">
                  <a:solidFill>
                    <a:srgbClr val="FFFFFF"/>
                  </a:solidFill>
                </a:rPr>
              </a:br>
              <a:r>
                <a:t>[This sidebar area does not print.]</a:t>
              </a:r>
            </a:p>
          </p:txBody>
        </p:sp>
      </p:grpSp>
      <p:grpSp>
        <p:nvGrpSpPr>
          <p:cNvPr id="15" name="Group 6"/>
          <p:cNvGrpSpPr/>
          <p:nvPr/>
        </p:nvGrpSpPr>
        <p:grpSpPr>
          <a:xfrm>
            <a:off x="33604200" y="0"/>
            <a:ext cx="9601200" cy="33833495"/>
            <a:chOff x="0" y="0"/>
            <a:chExt cx="9601200" cy="33833494"/>
          </a:xfrm>
        </p:grpSpPr>
        <p:grpSp>
          <p:nvGrpSpPr>
            <p:cNvPr id="13" name="Instructions"/>
            <p:cNvGrpSpPr/>
            <p:nvPr/>
          </p:nvGrpSpPr>
          <p:grpSpPr>
            <a:xfrm>
              <a:off x="0" y="0"/>
              <a:ext cx="9601200" cy="33833495"/>
              <a:chOff x="0" y="0"/>
              <a:chExt cx="9601200" cy="33833494"/>
            </a:xfrm>
          </p:grpSpPr>
          <p:sp>
            <p:nvSpPr>
              <p:cNvPr id="11" name="Rectangle"/>
              <p:cNvSpPr/>
              <p:nvPr/>
            </p:nvSpPr>
            <p:spPr>
              <a:xfrm>
                <a:off x="0" y="0"/>
                <a:ext cx="9601200" cy="32918400"/>
              </a:xfrm>
              <a:prstGeom prst="rect">
                <a:avLst/>
              </a:prstGeom>
              <a:solidFill>
                <a:srgbClr val="D9D9D9"/>
              </a:solidFill>
              <a:ln w="12700" cap="flat">
                <a:noFill/>
                <a:miter lim="400000"/>
              </a:ln>
              <a:effectLst/>
            </p:spPr>
            <p:txBody>
              <a:bodyPr wrap="square" lIns="45719" tIns="45719" rIns="45719" bIns="45719" numCol="1" anchor="t">
                <a:noAutofit/>
              </a:bodyPr>
              <a:lstStyle/>
              <a:p>
                <a:pPr algn="ctr" defTabSz="3686809">
                  <a:defRPr sz="7200">
                    <a:solidFill>
                      <a:srgbClr val="FFFFFF"/>
                    </a:solidFill>
                  </a:defRPr>
                </a:pPr>
                <a:endParaRPr/>
              </a:p>
            </p:txBody>
          </p:sp>
          <p:sp>
            <p:nvSpPr>
              <p:cNvPr id="12" name="Change Color Theme:…"/>
              <p:cNvSpPr txBox="1"/>
              <p:nvPr/>
            </p:nvSpPr>
            <p:spPr>
              <a:xfrm>
                <a:off x="0" y="0"/>
                <a:ext cx="9601200" cy="338334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28600" tIns="228600" rIns="228600" bIns="228600" numCol="1" anchor="t">
                <a:spAutoFit/>
              </a:bodyPr>
              <a:lstStyle/>
              <a:p>
                <a:pPr defTabSz="3686809">
                  <a:spcBef>
                    <a:spcPts val="1800"/>
                  </a:spcBef>
                  <a:defRPr sz="7200">
                    <a:solidFill>
                      <a:srgbClr val="808080"/>
                    </a:solidFill>
                  </a:defRPr>
                </a:pPr>
                <a:r>
                  <a:t>Change Color Theme:</a:t>
                </a:r>
              </a:p>
              <a:p>
                <a:pPr defTabSz="3686809">
                  <a:spcBef>
                    <a:spcPts val="1800"/>
                  </a:spcBef>
                  <a:defRPr sz="4900">
                    <a:solidFill>
                      <a:srgbClr val="808080"/>
                    </a:solidFill>
                  </a:defRPr>
                </a:pPr>
                <a:r>
                  <a:t>This template is designed to use the built-in color themes in the newer versions of PowerPoint.</a:t>
                </a:r>
                <a:endParaRPr sz="7200">
                  <a:solidFill>
                    <a:srgbClr val="FFFFFF"/>
                  </a:solidFill>
                </a:endParaRPr>
              </a:p>
              <a:p>
                <a:pPr defTabSz="3686809">
                  <a:spcBef>
                    <a:spcPts val="1800"/>
                  </a:spcBef>
                  <a:defRPr sz="4900">
                    <a:solidFill>
                      <a:srgbClr val="808080"/>
                    </a:solidFill>
                  </a:defRPr>
                </a:pPr>
                <a:r>
                  <a:t>To change the color theme, select the </a:t>
                </a:r>
                <a:r>
                  <a:rPr b="1"/>
                  <a:t>Design</a:t>
                </a:r>
                <a:r>
                  <a:t> tab, then select the </a:t>
                </a:r>
                <a:r>
                  <a:rPr b="1"/>
                  <a:t>Colors</a:t>
                </a:r>
                <a:r>
                  <a:t> drop-down list.</a:t>
                </a: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r>
                  <a:t>The default color theme for this template is “Office”, so you can always return to that after trying some of the alternatives.</a:t>
                </a:r>
                <a:endParaRPr sz="7200">
                  <a:solidFill>
                    <a:srgbClr val="FFFFFF"/>
                  </a:solidFill>
                </a:endParaRPr>
              </a:p>
              <a:p>
                <a:pPr defTabSz="3686809">
                  <a:spcBef>
                    <a:spcPts val="1800"/>
                  </a:spcBef>
                  <a:defRPr sz="7200">
                    <a:solidFill>
                      <a:srgbClr val="808080"/>
                    </a:solidFill>
                  </a:defRPr>
                </a:pPr>
                <a:r>
                  <a:t>Printing Your Poster:</a:t>
                </a:r>
                <a:endParaRPr>
                  <a:solidFill>
                    <a:srgbClr val="FFFFFF"/>
                  </a:solidFill>
                </a:endParaRPr>
              </a:p>
              <a:p>
                <a:pPr defTabSz="3686809">
                  <a:spcBef>
                    <a:spcPts val="1800"/>
                  </a:spcBef>
                  <a:defRPr sz="4900">
                    <a:solidFill>
                      <a:srgbClr val="808080"/>
                    </a:solidFill>
                  </a:defRPr>
                </a:pPr>
                <a:r>
                  <a:t>Once your poster file is ready, visit </a:t>
                </a:r>
                <a:r>
                  <a:rPr b="1"/>
                  <a:t>www.genigraphics.com</a:t>
                </a:r>
                <a:r>
                  <a:t> to order a high-quality, affordable poster print. Every order receives a free design review and we can deliver as fast as next business day within the US and Canada. </a:t>
                </a:r>
                <a:endParaRPr sz="7200">
                  <a:solidFill>
                    <a:srgbClr val="FFFFFF"/>
                  </a:solidFill>
                </a:endParaRPr>
              </a:p>
              <a:p>
                <a:pPr defTabSz="3686809">
                  <a:spcBef>
                    <a:spcPts val="1800"/>
                  </a:spcBef>
                  <a:defRPr sz="4900">
                    <a:solidFill>
                      <a:srgbClr val="808080"/>
                    </a:solidFill>
                  </a:defRPr>
                </a:pPr>
                <a:r>
                  <a:t>Genigraphics® has been producing output from PowerPoint® longer than anyone in the industry; dating back to when we helped Microsoft® design the PowerPoint® software. </a:t>
                </a:r>
                <a:endParaRPr sz="7200">
                  <a:solidFill>
                    <a:srgbClr val="FFFFFF"/>
                  </a:solidFill>
                </a:endParaRPr>
              </a:p>
              <a:p>
                <a:pPr defTabSz="3686809">
                  <a:defRPr sz="4900">
                    <a:solidFill>
                      <a:srgbClr val="808080"/>
                    </a:solidFill>
                  </a:defRPr>
                </a:pPr>
                <a:endParaRPr sz="7200">
                  <a:solidFill>
                    <a:srgbClr val="FFFFFF"/>
                  </a:solidFill>
                </a:endParaRPr>
              </a:p>
              <a:p>
                <a:pPr algn="ctr" defTabSz="3686809">
                  <a:defRPr sz="4900">
                    <a:solidFill>
                      <a:srgbClr val="808080"/>
                    </a:solidFill>
                  </a:defRPr>
                </a:pPr>
                <a:r>
                  <a:t>US and Canada:  1-800-790-4001</a:t>
                </a:r>
                <a:br/>
                <a:r>
                  <a:t>Email: info@genigraphics.com</a:t>
                </a:r>
                <a:endParaRPr sz="7200">
                  <a:solidFill>
                    <a:srgbClr val="FFFFFF"/>
                  </a:solidFill>
                </a:endParaRPr>
              </a:p>
              <a:p>
                <a:pPr algn="ctr" defTabSz="3686809">
                  <a:defRPr sz="3600">
                    <a:solidFill>
                      <a:srgbClr val="808080"/>
                    </a:solidFill>
                  </a:defRPr>
                </a:pPr>
                <a:br>
                  <a:rPr sz="7200">
                    <a:solidFill>
                      <a:srgbClr val="FFFFFF"/>
                    </a:solidFill>
                  </a:rPr>
                </a:br>
                <a:r>
                  <a:t>[This sidebar area does not print.]</a:t>
                </a:r>
              </a:p>
            </p:txBody>
          </p:sp>
        </p:grpSp>
        <p:pic>
          <p:nvPicPr>
            <p:cNvPr id="14" name="Picture 8" descr="Picture 8"/>
            <p:cNvPicPr>
              <a:picLocks noChangeAspect="1"/>
            </p:cNvPicPr>
            <p:nvPr/>
          </p:nvPicPr>
          <p:blipFill>
            <a:blip r:embed="rId4"/>
            <a:stretch>
              <a:fillRect/>
            </a:stretch>
          </p:blipFill>
          <p:spPr>
            <a:xfrm>
              <a:off x="336406" y="6945205"/>
              <a:ext cx="8928387" cy="7685196"/>
            </a:xfrm>
            <a:prstGeom prst="rect">
              <a:avLst/>
            </a:prstGeom>
            <a:ln w="12700" cap="flat">
              <a:noFill/>
              <a:miter lim="400000"/>
            </a:ln>
            <a:effectLst/>
          </p:spPr>
        </p:pic>
      </p:grpSp>
      <p:sp>
        <p:nvSpPr>
          <p:cNvPr id="16" name="Title Text"/>
          <p:cNvSpPr txBox="1">
            <a:spLocks noGrp="1"/>
          </p:cNvSpPr>
          <p:nvPr>
            <p:ph type="title"/>
          </p:nvPr>
        </p:nvSpPr>
        <p:spPr>
          <a:xfrm>
            <a:off x="1645920" y="441959"/>
            <a:ext cx="29626561" cy="7239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17" name="Body Level One…"/>
          <p:cNvSpPr txBox="1">
            <a:spLocks noGrp="1"/>
          </p:cNvSpPr>
          <p:nvPr>
            <p:ph type="body" idx="1"/>
          </p:nvPr>
        </p:nvSpPr>
        <p:spPr>
          <a:xfrm>
            <a:off x="1645920" y="7680959"/>
            <a:ext cx="29626561" cy="25237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18" name="Slide Number"/>
          <p:cNvSpPr txBox="1">
            <a:spLocks noGrp="1"/>
          </p:cNvSpPr>
          <p:nvPr>
            <p:ph type="sldNum" sz="quarter" idx="2"/>
          </p:nvPr>
        </p:nvSpPr>
        <p:spPr>
          <a:xfrm>
            <a:off x="15910560" y="29634180"/>
            <a:ext cx="7680960" cy="1752600"/>
          </a:xfrm>
          <a:prstGeom prst="rect">
            <a:avLst/>
          </a:prstGeom>
          <a:ln w="12700">
            <a:miter lim="400000"/>
          </a:ln>
        </p:spPr>
        <p:txBody>
          <a:bodyPr wrap="none" lIns="45719" rIns="45719" anchor="ctr">
            <a:spAutoFit/>
          </a:bodyPr>
          <a:lstStyle>
            <a:lvl1pPr algn="r">
              <a:defRPr sz="1200">
                <a:latin typeface="+mn-lt"/>
                <a:ea typeface="+mn-ea"/>
                <a:cs typeface="+mn-cs"/>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1pPr>
      <a:lvl2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2pPr>
      <a:lvl3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3pPr>
      <a:lvl4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4pPr>
      <a:lvl5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5pPr>
      <a:lvl6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6pPr>
      <a:lvl7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7pPr>
      <a:lvl8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8pPr>
      <a:lvl9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9pPr>
    </p:titleStyle>
    <p:bodyStyle>
      <a:lvl1pPr marL="1410335" marR="0" indent="-1410335"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1pPr>
      <a:lvl2pPr marL="3217741" marR="0" indent="-1337506"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2pPr>
      <a:lvl3pPr marL="5014383" marR="0" indent="-1253913"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3pPr>
      <a:lvl4pPr marL="7136336"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4pPr>
      <a:lvl5pPr marL="9017206"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5pPr>
      <a:lvl6pPr marL="10897441"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6pPr>
      <a:lvl7pPr marL="12777676"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7pPr>
      <a:lvl8pPr marL="14657911" marR="0" indent="-1495632"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8pPr>
      <a:lvl9pPr marL="16538147" marR="0" indent="-1495632"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374015"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74803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122044"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49606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1870075"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244725"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2618739"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2992754"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Box 186"/>
          <p:cNvSpPr txBox="1"/>
          <p:nvPr/>
        </p:nvSpPr>
        <p:spPr>
          <a:xfrm>
            <a:off x="6583680" y="543361"/>
            <a:ext cx="26334722" cy="15421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71" tIns="342871" rIns="342871" bIns="342871" anchor="ctr">
            <a:spAutoFit/>
          </a:bodyPr>
          <a:lstStyle>
            <a:lvl1pPr algn="ctr" defTabSz="4022725">
              <a:defRPr sz="6600" b="1">
                <a:solidFill>
                  <a:srgbClr val="FFFFFF"/>
                </a:solidFill>
              </a:defRPr>
            </a:lvl1pPr>
          </a:lstStyle>
          <a:p>
            <a:r>
              <a:t>DREAMSCAPE: MULTI-AGENT AI STORYTELLING PLATFORM</a:t>
            </a:r>
          </a:p>
        </p:txBody>
      </p:sp>
      <p:sp>
        <p:nvSpPr>
          <p:cNvPr id="35" name="Text Box 187"/>
          <p:cNvSpPr txBox="1"/>
          <p:nvPr/>
        </p:nvSpPr>
        <p:spPr>
          <a:xfrm>
            <a:off x="6583680" y="1467608"/>
            <a:ext cx="26334722" cy="34008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71" tIns="342871" rIns="342871" bIns="342871" anchor="ctr">
            <a:spAutoFit/>
          </a:bodyPr>
          <a:lstStyle/>
          <a:p>
            <a:pPr algn="ctr" defTabSz="4022725">
              <a:defRPr sz="4400">
                <a:solidFill>
                  <a:srgbClr val="FFFFFF"/>
                </a:solidFill>
              </a:defRPr>
            </a:pPr>
            <a:r>
              <a:rPr dirty="0"/>
              <a:t>Department of Computer Science and Engineering (Artificial Intelligence and Machine Learning)</a:t>
            </a:r>
            <a:endParaRPr dirty="0">
              <a:latin typeface="+mn-lt"/>
              <a:ea typeface="+mn-ea"/>
              <a:cs typeface="+mn-cs"/>
              <a:sym typeface="Arial"/>
            </a:endParaRPr>
          </a:p>
          <a:p>
            <a:pPr algn="ctr" defTabSz="4022725">
              <a:defRPr sz="4400">
                <a:solidFill>
                  <a:srgbClr val="FFFFFF"/>
                </a:solidFill>
              </a:defRPr>
            </a:pPr>
            <a:r>
              <a:rPr dirty="0"/>
              <a:t>School of Computing</a:t>
            </a:r>
            <a:endParaRPr dirty="0">
              <a:latin typeface="+mn-lt"/>
              <a:ea typeface="+mn-ea"/>
              <a:cs typeface="+mn-cs"/>
              <a:sym typeface="Arial"/>
            </a:endParaRPr>
          </a:p>
          <a:p>
            <a:pPr algn="ctr" defTabSz="4022725">
              <a:defRPr sz="4400">
                <a:solidFill>
                  <a:srgbClr val="FFFFFF"/>
                </a:solidFill>
              </a:defRPr>
            </a:pPr>
            <a:r>
              <a:rPr dirty="0"/>
              <a:t>10214CA701 - MAJOR PROJECT</a:t>
            </a:r>
            <a:endParaRPr dirty="0">
              <a:latin typeface="+mn-lt"/>
              <a:ea typeface="+mn-ea"/>
              <a:cs typeface="+mn-cs"/>
              <a:sym typeface="Arial"/>
            </a:endParaRPr>
          </a:p>
          <a:p>
            <a:pPr algn="ctr" defTabSz="4022725">
              <a:defRPr sz="4400">
                <a:solidFill>
                  <a:srgbClr val="FFFFFF"/>
                </a:solidFill>
              </a:defRPr>
            </a:pPr>
            <a:r>
              <a:rPr lang="en-GB" dirty="0"/>
              <a:t>SUMMER </a:t>
            </a:r>
            <a:r>
              <a:rPr dirty="0"/>
              <a:t>SEMESTER 2025-2026</a:t>
            </a:r>
          </a:p>
        </p:txBody>
      </p:sp>
      <p:sp>
        <p:nvSpPr>
          <p:cNvPr id="36" name="Text Box 194"/>
          <p:cNvSpPr txBox="1"/>
          <p:nvPr/>
        </p:nvSpPr>
        <p:spPr>
          <a:xfrm>
            <a:off x="9143921" y="4770837"/>
            <a:ext cx="4023519"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INTRODUCTION</a:t>
            </a:r>
          </a:p>
        </p:txBody>
      </p:sp>
      <p:sp>
        <p:nvSpPr>
          <p:cNvPr id="37" name="Text Box 198"/>
          <p:cNvSpPr txBox="1"/>
          <p:nvPr/>
        </p:nvSpPr>
        <p:spPr>
          <a:xfrm>
            <a:off x="25091120" y="4634717"/>
            <a:ext cx="6510560"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STANDARDS AND POLICIES</a:t>
            </a:r>
          </a:p>
        </p:txBody>
      </p:sp>
      <p:sp>
        <p:nvSpPr>
          <p:cNvPr id="38" name="Text Box 199"/>
          <p:cNvSpPr txBox="1"/>
          <p:nvPr/>
        </p:nvSpPr>
        <p:spPr>
          <a:xfrm>
            <a:off x="18601219" y="4634717"/>
            <a:ext cx="2299642"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RESULTS</a:t>
            </a:r>
          </a:p>
        </p:txBody>
      </p:sp>
      <p:sp>
        <p:nvSpPr>
          <p:cNvPr id="39" name="Text Box 246"/>
          <p:cNvSpPr txBox="1"/>
          <p:nvPr/>
        </p:nvSpPr>
        <p:spPr>
          <a:xfrm>
            <a:off x="457200" y="4634717"/>
            <a:ext cx="2703735"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defTabSz="4022725">
              <a:defRPr sz="4400">
                <a:solidFill>
                  <a:srgbClr val="FFFFFF"/>
                </a:solidFill>
              </a:defRPr>
            </a:lvl1pPr>
          </a:lstStyle>
          <a:p>
            <a:r>
              <a:t>ABSTRACT</a:t>
            </a:r>
          </a:p>
        </p:txBody>
      </p:sp>
      <p:sp>
        <p:nvSpPr>
          <p:cNvPr id="40" name="Text Box 259"/>
          <p:cNvSpPr txBox="1"/>
          <p:nvPr/>
        </p:nvSpPr>
        <p:spPr>
          <a:xfrm>
            <a:off x="9330222" y="21438576"/>
            <a:ext cx="4096370"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METHODOLOGY</a:t>
            </a:r>
          </a:p>
        </p:txBody>
      </p:sp>
      <p:sp>
        <p:nvSpPr>
          <p:cNvPr id="41" name="Text Box 261"/>
          <p:cNvSpPr txBox="1"/>
          <p:nvPr/>
        </p:nvSpPr>
        <p:spPr>
          <a:xfrm>
            <a:off x="26495942" y="20199750"/>
            <a:ext cx="3699644"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CONCLUSIONS</a:t>
            </a:r>
          </a:p>
        </p:txBody>
      </p:sp>
      <p:sp>
        <p:nvSpPr>
          <p:cNvPr id="42" name="Text Box 262"/>
          <p:cNvSpPr txBox="1"/>
          <p:nvPr/>
        </p:nvSpPr>
        <p:spPr>
          <a:xfrm>
            <a:off x="26697260" y="28722632"/>
            <a:ext cx="3298280"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SUPERVISOR</a:t>
            </a:r>
          </a:p>
        </p:txBody>
      </p:sp>
      <p:sp>
        <p:nvSpPr>
          <p:cNvPr id="43" name="Text Box 267"/>
          <p:cNvSpPr txBox="1"/>
          <p:nvPr/>
        </p:nvSpPr>
        <p:spPr>
          <a:xfrm>
            <a:off x="457200" y="5611090"/>
            <a:ext cx="5669280" cy="20150079"/>
          </a:xfrm>
          <a:prstGeom prst="rect">
            <a:avLst/>
          </a:prstGeom>
          <a:solidFill>
            <a:srgbClr val="37609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algn="just" defTabSz="3291840">
              <a:defRPr sz="2800">
                <a:solidFill>
                  <a:srgbClr val="FFFFFF"/>
                </a:solidFill>
              </a:defRPr>
            </a:pPr>
            <a:r>
              <a:t>DreamScape is a Multi-Agent AI Storytelling Platform that converts a single text prompt into a fully narrated, illustrated, and musically scored MP4 video. Six specialized AI agents (PlotAgent, CharacterAgent, EmotionAgent, VisualAgent, AudioAgent, CoordinatorAgent) collaborate via a round-table negotiation protocol. A heterogeneous multi-LLM routing system assigns LLaMA 3.3-70B to smart agents and LLaMA 3.1-8B to fast agents, with automatic Gemini fallback for 97% call success rate.</a:t>
            </a:r>
          </a:p>
          <a:p>
            <a:pPr algn="just" defTabSz="3291840">
              <a:defRPr sz="2800">
                <a:solidFill>
                  <a:srgbClr val="FFFFFF"/>
                </a:solidFill>
              </a:defRPr>
            </a:pPr>
            <a:endParaRPr/>
          </a:p>
          <a:p>
            <a:pPr algn="just" defTabSz="3291840">
              <a:defRPr sz="2800">
                <a:solidFill>
                  <a:srgbClr val="FFFFFF"/>
                </a:solidFill>
              </a:defRPr>
            </a:pPr>
            <a:r>
              <a:t>ChromaDB vector memory ensures semantic story consistency across rounds. The production pipeline generates FLUX images (Pollinations.AI), Kokoro TTS narration, MusicGen background music, and Magic Hour animated clips, assembled into a final MP4 using FFmpeg with our audio replacing AI-generated audio.</a:t>
            </a:r>
          </a:p>
          <a:p>
            <a:pPr algn="just" defTabSz="3291840">
              <a:defRPr sz="2800">
                <a:solidFill>
                  <a:srgbClr val="FFFFFF"/>
                </a:solidFill>
              </a:defRPr>
            </a:pPr>
            <a:endParaRPr/>
          </a:p>
          <a:p>
            <a:pPr algn="just" defTabSz="3291840">
              <a:defRPr sz="2800">
                <a:solidFill>
                  <a:srgbClr val="FFFFFF"/>
                </a:solidFill>
              </a:defRPr>
            </a:pPr>
            <a:r>
              <a:t>Evaluation across 100 story runs: BLEU-1 score 0.631 vs 0.412 baseline (+53%), CLIP image-prompt alignment 0.71 (exceeds 0.65 threshold), emotional tone classification accuracy 85.8%, user satisfaction 4.1/5.0 (N=25). Total pipeline completion time: ~13 minutes per story. 97% LLM call success rate with multi-provider fallback.</a:t>
            </a:r>
          </a:p>
        </p:txBody>
      </p:sp>
      <p:sp>
        <p:nvSpPr>
          <p:cNvPr id="44" name="Text Box 268"/>
          <p:cNvSpPr txBox="1"/>
          <p:nvPr/>
        </p:nvSpPr>
        <p:spPr>
          <a:xfrm>
            <a:off x="15727680" y="5611093"/>
            <a:ext cx="8046720" cy="6764279"/>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lvl1pPr algn="just" defTabSz="3291840">
              <a:defRPr sz="2800"/>
            </a:lvl1pPr>
          </a:lstStyle>
          <a:p>
            <a:r>
              <a:t>BLEU-1: 0.631 (+53% vs baseline) | BLEU-Avg: 0.451 (+73%) | CLIP Similarity: 0.71/scene | Tone Accuracy: 85.8% | Coherence: 8.7/10 (Round 7) | Pipeline Time: 13 min | LLM Success: 97% | User Satisfaction: 4.1/5.0 | Emotional Impact: 4.3/5.0 | PlotAgent Win Rate: 34% | AudioGen Bottleneck: 312s (MusicGen CPU) | Total Runs Evaluated: 100</a:t>
            </a:r>
          </a:p>
        </p:txBody>
      </p:sp>
      <p:sp>
        <p:nvSpPr>
          <p:cNvPr id="45" name="Text Box 269"/>
          <p:cNvSpPr txBox="1"/>
          <p:nvPr/>
        </p:nvSpPr>
        <p:spPr>
          <a:xfrm>
            <a:off x="24460200" y="5410430"/>
            <a:ext cx="7772400" cy="8186679"/>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algn="just" defTabSz="3291840">
              <a:defRPr sz="3200" b="1"/>
            </a:pPr>
            <a:r>
              <a:t>Python 3.13 + FastAPI</a:t>
            </a:r>
            <a:endParaRPr sz="2800"/>
          </a:p>
          <a:p>
            <a:pPr algn="just" defTabSz="3291840">
              <a:defRPr sz="2800"/>
            </a:pPr>
            <a:r>
              <a:t>FastAPI provides the REST API and WebSocket endpoints for DreamScape. Asynchronous pipeline execution enables real-time progress streaming to the React frontend. All modules follow PEP 8 coding standards.</a:t>
            </a:r>
            <a:endParaRPr>
              <a:latin typeface="+mn-lt"/>
              <a:ea typeface="+mn-ea"/>
              <a:cs typeface="+mn-cs"/>
              <a:sym typeface="Arial"/>
            </a:endParaRPr>
          </a:p>
          <a:p>
            <a:pPr algn="just" defTabSz="3291840">
              <a:defRPr sz="2800"/>
            </a:pPr>
            <a:r>
              <a:t>Standard Used: ISO/IEC 25010:2011 (Software Quality)</a:t>
            </a:r>
            <a:endParaRPr>
              <a:latin typeface="+mn-lt"/>
              <a:ea typeface="+mn-ea"/>
              <a:cs typeface="+mn-cs"/>
              <a:sym typeface="Arial"/>
            </a:endParaRPr>
          </a:p>
          <a:p>
            <a:pPr algn="just" defTabSz="3291840">
              <a:defRPr sz="3200" b="1"/>
            </a:pPr>
            <a:r>
              <a:t>React + Vite Frontend</a:t>
            </a:r>
            <a:endParaRPr>
              <a:latin typeface="+mn-lt"/>
              <a:ea typeface="+mn-ea"/>
              <a:cs typeface="+mn-cs"/>
              <a:sym typeface="Arial"/>
            </a:endParaRPr>
          </a:p>
          <a:p>
            <a:pPr algn="just" defTabSz="3291840">
              <a:defRPr sz="2800"/>
            </a:pPr>
            <a:r>
              <a:t>React + Vite web interface with 4 pages (Home, Generate, Gallery, About). WebSocket-driven live pipeline progress dashboard. Dark cinematic theme. Cormorant Garamond + Space Mono typography. Animated star field hero. Mobile responsive layout.</a:t>
            </a:r>
            <a:endParaRPr>
              <a:latin typeface="+mn-lt"/>
              <a:ea typeface="+mn-ea"/>
              <a:cs typeface="+mn-cs"/>
              <a:sym typeface="Arial"/>
            </a:endParaRPr>
          </a:p>
          <a:p>
            <a:pPr algn="just" defTabSz="3291840">
              <a:defRPr sz="2800"/>
            </a:pPr>
            <a:r>
              <a:t>Standard Used: WCAG 2.1 Level AA | OpenAPI 3.0</a:t>
            </a:r>
          </a:p>
        </p:txBody>
      </p:sp>
      <p:sp>
        <p:nvSpPr>
          <p:cNvPr id="46" name="Text Box 270"/>
          <p:cNvSpPr txBox="1"/>
          <p:nvPr/>
        </p:nvSpPr>
        <p:spPr>
          <a:xfrm>
            <a:off x="7540466" y="22293907"/>
            <a:ext cx="7180582" cy="10610890"/>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algn="just" defTabSz="3291840">
              <a:defRPr sz="2400"/>
            </a:pPr>
            <a:r>
              <a:t>PIPELINE: (1) Story Generation: 6-agent round-table with 5-phase rounds (Communicate, Propose, Coordinator Evaluate, Consistency Check, State Update). CoordinatorAgent uses LLM scoring on narrative_coherence, character_consistency, arc_appropriateness. (2) Scene Pipeline: LLM-based segmenter, Pydantic Scene schema (15+ fields), validator. (3) Image Generation: Pollinations.AI FLUX model via URL API. (4) Audio: Kokoro-ONNX TTS (local) + MusicGen-small (local CPU). (5) Video Clips: Magic Hour API animates images to 5s clips. (6) FFmpeg Assembly: -map 0:v -map 1:a strips Magic Hour audio, replaces with our mix.</a:t>
            </a:r>
          </a:p>
          <a:p>
            <a:pPr algn="just" defTabSz="3291840">
              <a:defRPr sz="2400"/>
            </a:pPr>
            <a:endParaRPr/>
          </a:p>
          <a:p>
            <a:pPr algn="just" defTabSz="3291840">
              <a:defRPr sz="2400"/>
            </a:pPr>
            <a:r>
              <a:t>MULTI-PROVIDER LLM ROUTING: Smart tier (Plot, Character, Coordinator): Groq LLaMA-70B (78%) -&gt; Gemini Flash (19%). Fast tier (Emotion, Visual, Audio): Groq LLaMA-8B (65%) -&gt; Gemini Flash (32%). 3% failure rate total. CHROMADB MEMORY: story_segments and character_facts collections with cosine similarity retrieval. Top-3 relevant segments retrieved per round for context injection.</a:t>
            </a:r>
          </a:p>
        </p:txBody>
      </p:sp>
      <p:sp>
        <p:nvSpPr>
          <p:cNvPr id="47" name="Text Box 271"/>
          <p:cNvSpPr txBox="1"/>
          <p:nvPr/>
        </p:nvSpPr>
        <p:spPr>
          <a:xfrm>
            <a:off x="24459564" y="21109711"/>
            <a:ext cx="7772401" cy="7627879"/>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lvl1pPr algn="just" defTabSz="3291840">
              <a:defRPr sz="2800"/>
            </a:lvl1pPr>
          </a:lstStyle>
          <a:p>
            <a:r>
              <a:t>DreamScape proves that multi-agent negotiation produces measurably superior creative output: +73% BLEU score, +45% narrative coherence, 97% LLM call success rate. The fully automated multimodal pipeline completes story-to-video in ~13 minutes at near-zero cost. Future directions: LoRA visual style conditioning, GPU-accelerated MusicGen, real-time streaming assembly, and long-form multi-session story continuation.</a:t>
            </a:r>
          </a:p>
        </p:txBody>
      </p:sp>
      <p:sp>
        <p:nvSpPr>
          <p:cNvPr id="48" name="Text Box 272"/>
          <p:cNvSpPr txBox="1"/>
          <p:nvPr/>
        </p:nvSpPr>
        <p:spPr>
          <a:xfrm>
            <a:off x="7004049" y="5857240"/>
            <a:ext cx="8339457" cy="14536679"/>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algn="just" defTabSz="838200">
              <a:defRPr sz="2800"/>
            </a:pPr>
            <a:r>
              <a:t>AI has excelled individually at text, image, audio, and video generation but producing a complete cohesive multimedia narrative autonomously has remained unsolved. DreamScape addresses this by deploying six specialized agents that negotiate in real-time: PlotAgent (narrative arc), CharacterAgent (consistency), EmotionAgent (tone/pacing), VisualAgent (scene prompts), AudioAgent (music/SFX), CoordinatorAgent (LLM-evaluated selection).</a:t>
            </a:r>
          </a:p>
          <a:p>
            <a:pPr algn="just" defTabSz="838200">
              <a:defRPr sz="2800"/>
            </a:pPr>
            <a:endParaRPr/>
          </a:p>
          <a:p>
            <a:pPr algn="just" defTabSz="838200">
              <a:defRPr sz="2800"/>
            </a:pPr>
            <a:r>
              <a:t>The core novelty is the heterogeneous multi-LLM routing — each agent uses the optimal language model for its cognitive demands, with a multi-provider fallback chain ensuring reliability. A unified Pydantic Scene schema serves as the central data contract propagating emotional tone, tension level, visual prompts, music mood, and narration style to every downstream production module.</a:t>
            </a:r>
          </a:p>
          <a:p>
            <a:pPr algn="just" defTabSz="838200">
              <a:defRPr sz="2800"/>
            </a:pPr>
            <a:endParaRPr/>
          </a:p>
          <a:p>
            <a:pPr algn="just" defTabSz="838200">
              <a:defRPr sz="2800"/>
            </a:pPr>
            <a:r>
              <a:t>The platform is deployed as a React + FastAPI web application where users enter a prompt, monitor live pipeline progress via WebSocket, and download the final MP4 video. The system operates at near-zero cost using free-tier APIs and local open-source models, making professional-quality AI storytelling accessible to all.</a:t>
            </a:r>
          </a:p>
        </p:txBody>
      </p:sp>
      <p:sp>
        <p:nvSpPr>
          <p:cNvPr id="49" name="Text Box 273"/>
          <p:cNvSpPr txBox="1"/>
          <p:nvPr/>
        </p:nvSpPr>
        <p:spPr>
          <a:xfrm>
            <a:off x="24460200" y="29701374"/>
            <a:ext cx="7772400" cy="2744947"/>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marL="457200" indent="-457200">
              <a:spcBef>
                <a:spcPts val="1900"/>
              </a:spcBef>
              <a:buSzPct val="100000"/>
              <a:buAutoNum type="arabicPeriod"/>
              <a:defRPr sz="3200"/>
            </a:pPr>
            <a:r>
              <a:t>Dr. S. LALITHA, M.E., Ph.D., PROFESSOR &amp; HEAD</a:t>
            </a:r>
          </a:p>
          <a:p>
            <a:pPr marL="457200" indent="-457200">
              <a:spcBef>
                <a:spcPts val="1900"/>
              </a:spcBef>
              <a:buSzPct val="100000"/>
              <a:buAutoNum type="arabicPeriod"/>
              <a:defRPr sz="3200"/>
            </a:pPr>
            <a:r>
              <a:t>Dept. of CSE (AIML), School of Computing</a:t>
            </a:r>
          </a:p>
          <a:p>
            <a:pPr marL="457200" indent="-457200">
              <a:spcBef>
                <a:spcPts val="1900"/>
              </a:spcBef>
              <a:buSzPct val="100000"/>
              <a:buAutoNum type="arabicPeriod"/>
              <a:defRPr sz="3200"/>
            </a:pPr>
            <a:r>
              <a:t>lalitha@veltech.edu.in</a:t>
            </a:r>
          </a:p>
        </p:txBody>
      </p:sp>
      <p:sp>
        <p:nvSpPr>
          <p:cNvPr id="50" name="Text Box 199"/>
          <p:cNvSpPr txBox="1"/>
          <p:nvPr/>
        </p:nvSpPr>
        <p:spPr>
          <a:xfrm>
            <a:off x="18678138" y="19840182"/>
            <a:ext cx="2374404"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effectLst>
                  <a:outerShdw blurRad="38100" dist="19050" dir="2700000" rotWithShape="0">
                    <a:srgbClr val="000000">
                      <a:alpha val="40000"/>
                    </a:srgbClr>
                  </a:outerShdw>
                </a:effectLst>
              </a:defRPr>
            </a:lvl1pPr>
          </a:lstStyle>
          <a:p>
            <a:r>
              <a:t>Confusion Matrix (85.8% Accuracy)</a:t>
            </a:r>
          </a:p>
        </p:txBody>
      </p:sp>
      <p:pic>
        <p:nvPicPr>
          <p:cNvPr id="51" name="image1.jpeg" descr="image1.jpeg"/>
          <p:cNvPicPr>
            <a:picLocks noChangeAspect="1"/>
          </p:cNvPicPr>
          <p:nvPr/>
        </p:nvPicPr>
        <p:blipFill>
          <a:blip r:embed="rId2"/>
          <a:stretch>
            <a:fillRect/>
          </a:stretch>
        </p:blipFill>
        <p:spPr>
          <a:xfrm>
            <a:off x="75883" y="1295400"/>
            <a:ext cx="3886201" cy="1768475"/>
          </a:xfrm>
          <a:prstGeom prst="rect">
            <a:avLst/>
          </a:prstGeom>
          <a:ln w="12700">
            <a:miter lim="400000"/>
          </a:ln>
        </p:spPr>
      </p:pic>
      <p:pic>
        <p:nvPicPr>
          <p:cNvPr id="52" name="Picture 2" descr="Picture 2"/>
          <p:cNvPicPr>
            <a:picLocks noChangeAspect="1"/>
          </p:cNvPicPr>
          <p:nvPr/>
        </p:nvPicPr>
        <p:blipFill>
          <a:blip r:embed="rId3"/>
          <a:stretch>
            <a:fillRect/>
          </a:stretch>
        </p:blipFill>
        <p:spPr>
          <a:xfrm>
            <a:off x="4114482" y="304800"/>
            <a:ext cx="2058988" cy="1695450"/>
          </a:xfrm>
          <a:prstGeom prst="rect">
            <a:avLst/>
          </a:prstGeom>
          <a:ln w="12700">
            <a:miter lim="400000"/>
          </a:ln>
        </p:spPr>
      </p:pic>
      <p:pic>
        <p:nvPicPr>
          <p:cNvPr id="53" name="Picture 6" descr="Picture 6"/>
          <p:cNvPicPr>
            <a:picLocks noChangeAspect="1"/>
          </p:cNvPicPr>
          <p:nvPr/>
        </p:nvPicPr>
        <p:blipFill>
          <a:blip r:embed="rId4"/>
          <a:stretch>
            <a:fillRect/>
          </a:stretch>
        </p:blipFill>
        <p:spPr>
          <a:xfrm>
            <a:off x="4026534" y="2490470"/>
            <a:ext cx="2299336" cy="1687830"/>
          </a:xfrm>
          <a:prstGeom prst="rect">
            <a:avLst/>
          </a:prstGeom>
          <a:ln w="12700">
            <a:miter lim="400000"/>
          </a:ln>
        </p:spPr>
      </p:pic>
      <p:sp>
        <p:nvSpPr>
          <p:cNvPr id="54" name="Text Box 1"/>
          <p:cNvSpPr txBox="1"/>
          <p:nvPr/>
        </p:nvSpPr>
        <p:spPr>
          <a:xfrm>
            <a:off x="572769" y="26190574"/>
            <a:ext cx="5172077" cy="601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4000">
                <a:solidFill>
                  <a:srgbClr val="FFFFFF"/>
                </a:solidFill>
              </a:defRPr>
            </a:lvl1pPr>
          </a:lstStyle>
          <a:p>
            <a:r>
              <a:t>TEAM MEMBER DETAILS</a:t>
            </a:r>
          </a:p>
        </p:txBody>
      </p:sp>
      <p:sp>
        <p:nvSpPr>
          <p:cNvPr id="55" name="Text Box 193"/>
          <p:cNvSpPr txBox="1"/>
          <p:nvPr/>
        </p:nvSpPr>
        <p:spPr>
          <a:xfrm>
            <a:off x="381000" y="27028774"/>
            <a:ext cx="5943600" cy="5385496"/>
          </a:xfrm>
          <a:prstGeom prst="rect">
            <a:avLst/>
          </a:prstGeom>
          <a:solidFill>
            <a:srgbClr val="37609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0" tIns="228600" rIns="228600" bIns="228600">
            <a:spAutoFit/>
          </a:bodyPr>
          <a:lstStyle/>
          <a:p>
            <a:pPr>
              <a:defRPr sz="3600">
                <a:solidFill>
                  <a:srgbClr val="FFFFFF"/>
                </a:solidFill>
              </a:defRPr>
            </a:pPr>
            <a:r>
              <a:t>P. KARTHIK BHARADWAJ</a:t>
            </a:r>
          </a:p>
          <a:p>
            <a:pPr>
              <a:defRPr sz="3600">
                <a:solidFill>
                  <a:srgbClr val="FFFFFF"/>
                </a:solidFill>
              </a:defRPr>
            </a:pPr>
            <a:r>
              <a:t>P. MANIKANTA PRASAD</a:t>
            </a:r>
          </a:p>
          <a:p>
            <a:pPr>
              <a:defRPr sz="3600">
                <a:solidFill>
                  <a:srgbClr val="FFFFFF"/>
                </a:solidFill>
              </a:defRPr>
            </a:pPr>
            <a:r>
              <a:t>VTU: 23088 | 23887</a:t>
            </a:r>
          </a:p>
          <a:p>
            <a:pPr>
              <a:defRPr sz="3600">
                <a:solidFill>
                  <a:srgbClr val="FFFFFF"/>
                </a:solidFill>
              </a:defRPr>
            </a:pPr>
            <a:r>
              <a:t>Reg: 211CA023 | 211CA024</a:t>
            </a:r>
            <a:endParaRPr>
              <a:latin typeface="+mn-lt"/>
              <a:ea typeface="+mn-ea"/>
              <a:cs typeface="+mn-cs"/>
              <a:sym typeface="Arial"/>
            </a:endParaRPr>
          </a:p>
          <a:p>
            <a:pPr>
              <a:defRPr sz="3600">
                <a:solidFill>
                  <a:srgbClr val="FFFFFF"/>
                </a:solidFill>
              </a:defRPr>
            </a:pPr>
            <a:r>
              <a:t>CSE (AIML) | May 2026</a:t>
            </a:r>
            <a:endParaRPr>
              <a:latin typeface="+mn-lt"/>
              <a:ea typeface="+mn-ea"/>
              <a:cs typeface="+mn-cs"/>
              <a:sym typeface="Arial"/>
            </a:endParaRPr>
          </a:p>
          <a:p>
            <a:pPr>
              <a:defRPr sz="3600">
                <a:solidFill>
                  <a:srgbClr val="FFFFFF"/>
                </a:solidFill>
              </a:defRPr>
            </a:pPr>
            <a:r>
              <a:t>Vel Tech University, Chennai</a:t>
            </a:r>
            <a:endParaRPr>
              <a:latin typeface="+mn-lt"/>
              <a:ea typeface="+mn-ea"/>
              <a:cs typeface="+mn-cs"/>
              <a:sym typeface="Arial"/>
            </a:endParaRPr>
          </a:p>
          <a:p>
            <a:pPr>
              <a:defRPr sz="3600">
                <a:solidFill>
                  <a:srgbClr val="FFFFFF"/>
                </a:solidFill>
              </a:defRPr>
            </a:pPr>
            <a:r>
              <a:t>211ca023@veltech.edu.in</a:t>
            </a:r>
            <a:endParaRPr>
              <a:latin typeface="+mn-lt"/>
              <a:ea typeface="+mn-ea"/>
              <a:cs typeface="+mn-cs"/>
              <a:sym typeface="Arial"/>
            </a:endParaRPr>
          </a:p>
          <a:p>
            <a:pPr>
              <a:defRPr sz="3600">
                <a:solidFill>
                  <a:srgbClr val="FFFFFF"/>
                </a:solidFill>
              </a:defRPr>
            </a:pPr>
            <a:r>
              <a:t>211ca024@veltech.edu.in</a:t>
            </a:r>
            <a:endParaRPr>
              <a:latin typeface="+mn-lt"/>
              <a:ea typeface="+mn-ea"/>
              <a:cs typeface="+mn-cs"/>
              <a:sym typeface="Arial"/>
            </a:endParaRPr>
          </a:p>
          <a:p>
            <a:pPr>
              <a:defRPr sz="3600">
                <a:solidFill>
                  <a:srgbClr val="FFFFFF"/>
                </a:solidFill>
              </a:defRPr>
            </a:pPr>
            <a:r>
              <a:t>github.com/karthik/dreamscape</a:t>
            </a:r>
          </a:p>
        </p:txBody>
      </p:sp>
      <p:sp>
        <p:nvSpPr>
          <p:cNvPr id="56" name="Text Box 9"/>
          <p:cNvSpPr txBox="1"/>
          <p:nvPr/>
        </p:nvSpPr>
        <p:spPr>
          <a:xfrm>
            <a:off x="15989617" y="12570924"/>
            <a:ext cx="7751446" cy="6098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3600" b="1">
                <a:latin typeface="+mn-lt"/>
                <a:ea typeface="+mn-ea"/>
                <a:cs typeface="+mn-cs"/>
                <a:sym typeface="Arial"/>
              </a:defRPr>
            </a:lvl1pPr>
          </a:lstStyle>
          <a:p>
            <a:r>
              <a:t>DreamScape Multi-Agent Pipeline</a:t>
            </a:r>
          </a:p>
        </p:txBody>
      </p:sp>
      <p:sp>
        <p:nvSpPr>
          <p:cNvPr id="57" name="Text Box 10"/>
          <p:cNvSpPr txBox="1"/>
          <p:nvPr/>
        </p:nvSpPr>
        <p:spPr>
          <a:xfrm>
            <a:off x="16285845" y="25827838"/>
            <a:ext cx="6120131" cy="548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3200" b="1">
                <a:latin typeface="+mn-lt"/>
                <a:ea typeface="+mn-ea"/>
                <a:cs typeface="+mn-cs"/>
                <a:sym typeface="Arial"/>
              </a:defRPr>
            </a:lvl1pPr>
          </a:lstStyle>
          <a:p>
            <a:r>
              <a:t>User Study — Likert Radar (N=25)</a:t>
            </a:r>
          </a:p>
        </p:txBody>
      </p:sp>
      <p:sp>
        <p:nvSpPr>
          <p:cNvPr id="58" name="Text Box 13"/>
          <p:cNvSpPr txBox="1"/>
          <p:nvPr/>
        </p:nvSpPr>
        <p:spPr>
          <a:xfrm>
            <a:off x="26199466" y="13792200"/>
            <a:ext cx="5226686" cy="6098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600" b="1">
                <a:latin typeface="+mn-lt"/>
                <a:ea typeface="+mn-ea"/>
                <a:cs typeface="+mn-cs"/>
                <a:sym typeface="Arial"/>
              </a:defRPr>
            </a:lvl1pPr>
          </a:lstStyle>
          <a:p>
            <a:r>
              <a:t>Evaluation Metrics</a:t>
            </a:r>
          </a:p>
        </p:txBody>
      </p:sp>
      <p:pic>
        <p:nvPicPr>
          <p:cNvPr id="59" name="PHOTO-2024-01-01-21-41-45.jpg" descr="PHOTO-2024-01-01-21-41-45.jpg"/>
          <p:cNvPicPr>
            <a:picLocks noChangeAspect="1"/>
          </p:cNvPicPr>
          <p:nvPr/>
        </p:nvPicPr>
        <p:blipFill>
          <a:blip r:embed="rId5"/>
          <a:stretch>
            <a:fillRect/>
          </a:stretch>
        </p:blipFill>
        <p:spPr>
          <a:xfrm>
            <a:off x="16386184" y="13376361"/>
            <a:ext cx="6729715" cy="5840251"/>
          </a:xfrm>
          <a:prstGeom prst="rect">
            <a:avLst/>
          </a:prstGeom>
          <a:ln w="12700">
            <a:miter lim="400000"/>
          </a:ln>
        </p:spPr>
      </p:pic>
      <p:pic>
        <p:nvPicPr>
          <p:cNvPr id="60" name="collection of data.jpeg" descr="collection of data.jpeg"/>
          <p:cNvPicPr>
            <a:picLocks noChangeAspect="1"/>
          </p:cNvPicPr>
          <p:nvPr/>
        </p:nvPicPr>
        <p:blipFill>
          <a:blip r:embed="rId6"/>
          <a:stretch>
            <a:fillRect/>
          </a:stretch>
        </p:blipFill>
        <p:spPr>
          <a:xfrm>
            <a:off x="16135034" y="20613667"/>
            <a:ext cx="7232015" cy="4479330"/>
          </a:xfrm>
          <a:prstGeom prst="rect">
            <a:avLst/>
          </a:prstGeom>
          <a:ln w="12700">
            <a:miter lim="400000"/>
          </a:ln>
        </p:spPr>
      </p:pic>
      <p:pic>
        <p:nvPicPr>
          <p:cNvPr id="61" name="Screenshot 2024-02-22 at 7.18.21 PM.png" descr="Screenshot 2024-02-22 at 7.18.21 PM.png"/>
          <p:cNvPicPr>
            <a:picLocks noChangeAspect="1"/>
          </p:cNvPicPr>
          <p:nvPr/>
        </p:nvPicPr>
        <p:blipFill>
          <a:blip r:embed="rId7"/>
          <a:stretch>
            <a:fillRect/>
          </a:stretch>
        </p:blipFill>
        <p:spPr>
          <a:xfrm>
            <a:off x="15179994" y="27110724"/>
            <a:ext cx="8819988" cy="5236867"/>
          </a:xfrm>
          <a:prstGeom prst="rect">
            <a:avLst/>
          </a:prstGeom>
          <a:ln w="12700">
            <a:miter lim="400000"/>
          </a:ln>
        </p:spPr>
      </p:pic>
      <p:pic>
        <p:nvPicPr>
          <p:cNvPr id="62" name="pasted-movie.png" descr="pasted-movie.png"/>
          <p:cNvPicPr>
            <a:picLocks noChangeAspect="1"/>
          </p:cNvPicPr>
          <p:nvPr/>
        </p:nvPicPr>
        <p:blipFill>
          <a:blip r:embed="rId8"/>
          <a:stretch>
            <a:fillRect/>
          </a:stretch>
        </p:blipFill>
        <p:spPr>
          <a:xfrm>
            <a:off x="24758515" y="14597636"/>
            <a:ext cx="7175770" cy="5472572"/>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981</Words>
  <Application>Microsoft Office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 poduru</dc:creator>
  <cp:lastModifiedBy>karthik poduru</cp:lastModifiedBy>
  <cp:revision>3</cp:revision>
  <dcterms:modified xsi:type="dcterms:W3CDTF">2026-04-10T07:17:53Z</dcterms:modified>
</cp:coreProperties>
</file>